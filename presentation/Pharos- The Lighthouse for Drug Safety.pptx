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  <p:sldId id="266" r:id="rId12"/>
  </p:sldIdLst>
  <p:sldSz cx="12192000" cy="6858000"/>
  <p:notesSz cx="6858000" cy="12192000"/>
  <p:embeddedFontLst>
    <p:embeddedFont>
      <p:font typeface="Dela Gothic One" panose="020B0604020202020204" charset="-128"/>
      <p:regular r:id="rId14"/>
    </p:embeddedFont>
    <p:embeddedFont>
      <p:font typeface="Bell MT" panose="02020503060305020303" pitchFamily="18" charset="0"/>
      <p:regular r:id="rId15"/>
      <p:bold r:id="rId16"/>
      <p:italic r:id="rId17"/>
    </p:embeddedFont>
    <p:embeddedFont>
      <p:font typeface="DM Sans" pitchFamily="2" charset="0"/>
      <p:regular r:id="rId18"/>
    </p:embeddedFont>
    <p:embeddedFont>
      <p:font typeface="DM Sans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929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11" y="139700"/>
            <a:ext cx="3486063" cy="6578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08451" y="4783837"/>
            <a:ext cx="4060920" cy="1934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</a:rPr>
              <a:t>Sudo Salinger</a:t>
            </a:r>
            <a:b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</a:rPr>
            </a:br>
            <a:br>
              <a:rPr lang="en-US" sz="20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</a:rPr>
            </a:br>
            <a:r>
              <a:rPr lang="en-US" sz="2000" dirty="0">
                <a:solidFill>
                  <a:srgbClr val="FAEBEB"/>
                </a:solidFill>
                <a:latin typeface="Bell MT" panose="02020503060305020303" pitchFamily="18" charset="0"/>
                <a:ea typeface="Dela Gothic One" pitchFamily="34" charset="-122"/>
              </a:rPr>
              <a:t>Member 1: Jainish Shah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AEBEB"/>
                </a:solidFill>
                <a:latin typeface="Bell MT" panose="02020503060305020303" pitchFamily="18" charset="0"/>
                <a:ea typeface="Dela Gothic One" pitchFamily="34" charset="-122"/>
              </a:rPr>
              <a:t>Member 2: Bhavya Radiya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AEBEB"/>
                </a:solidFill>
                <a:latin typeface="Bell MT" panose="02020503060305020303" pitchFamily="18" charset="0"/>
                <a:ea typeface="Dela Gothic One" pitchFamily="34" charset="-122"/>
              </a:rPr>
              <a:t>Member 3: Jinam Shah</a:t>
            </a:r>
            <a:endParaRPr lang="en-US" sz="2000" dirty="0">
              <a:latin typeface="Bell MT" panose="02020503060305020303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225682" y="1573722"/>
            <a:ext cx="696557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lighthouse for drug safety</a:t>
            </a:r>
            <a:endParaRPr lang="en-US" sz="14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1D5E2FB-C87B-6221-401F-CA7CF60DE09F}"/>
              </a:ext>
            </a:extLst>
          </p:cNvPr>
          <p:cNvSpPr/>
          <p:nvPr/>
        </p:nvSpPr>
        <p:spPr>
          <a:xfrm>
            <a:off x="5203576" y="979799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Pharos</a:t>
            </a:r>
            <a:endParaRPr lang="en-US" sz="3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2148681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Crisis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3193852"/>
            <a:ext cx="3492214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20M+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631908" y="4015184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FAERS Reports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31908" y="4420295"/>
            <a:ext cx="349221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+1M added every year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49740" y="3193852"/>
            <a:ext cx="3492214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27K+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4349740" y="4015184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Vioxx Heart Attacks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49740" y="4420295"/>
            <a:ext cx="349221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 withdrawal in 2004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67572" y="3193852"/>
            <a:ext cx="3492214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$100M</a:t>
            </a:r>
            <a:endParaRPr lang="en-US" sz="4650" dirty="0"/>
          </a:p>
        </p:txBody>
      </p:sp>
      <p:sp>
        <p:nvSpPr>
          <p:cNvPr id="10" name="Text 8"/>
          <p:cNvSpPr/>
          <p:nvPr/>
        </p:nvSpPr>
        <p:spPr>
          <a:xfrm>
            <a:off x="8067572" y="4015184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Regulatory Cost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7572" y="4420295"/>
            <a:ext cx="349221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missing section can cost this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29927"/>
            <a:ext cx="10927878" cy="547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Why Nothing Works Today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845370"/>
            <a:ext cx="6961013" cy="394464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5265" y="1480046"/>
            <a:ext cx="3560773" cy="10538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66898" y="1665486"/>
            <a:ext cx="3113704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Manual Review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8266898" y="2092523"/>
            <a:ext cx="3113704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Doesn't scale past hundreds of reports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5265" y="2687241"/>
            <a:ext cx="3560773" cy="105380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66898" y="2872680"/>
            <a:ext cx="3113704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Commercial Platforms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8266898" y="3299718"/>
            <a:ext cx="3113704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Expensive, closed, and periodic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5265" y="3894435"/>
            <a:ext cx="3560773" cy="10538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66898" y="4079875"/>
            <a:ext cx="3113704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Notebook Scripts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8266898" y="4506913"/>
            <a:ext cx="3113704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Untested and irreproducible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5265" y="5101630"/>
            <a:ext cx="3560773" cy="105380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66898" y="5287070"/>
            <a:ext cx="3113704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Plain LLM Chat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8266898" y="5714107"/>
            <a:ext cx="3113704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Invents data confidently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752402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Solution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617093"/>
            <a:ext cx="10927878" cy="819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50" dirty="0">
                <a:solidFill>
                  <a:srgbClr val="F98AC7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Two modes. One engine.</a:t>
            </a:r>
            <a:endParaRPr lang="en-US" sz="5150" dirty="0"/>
          </a:p>
        </p:txBody>
      </p:sp>
      <p:sp>
        <p:nvSpPr>
          <p:cNvPr id="4" name="Shape 2"/>
          <p:cNvSpPr/>
          <p:nvPr/>
        </p:nvSpPr>
        <p:spPr>
          <a:xfrm>
            <a:off x="501836" y="3707507"/>
            <a:ext cx="5503824" cy="1398091"/>
          </a:xfrm>
          <a:prstGeom prst="roundRect">
            <a:avLst>
              <a:gd name="adj" fmla="val 9298"/>
            </a:avLst>
          </a:prstGeom>
          <a:solidFill>
            <a:srgbClr val="F98AC7">
              <a:alpha val="9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2310" y="3887986"/>
            <a:ext cx="5142875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Signal Detection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82310" y="4365327"/>
            <a:ext cx="5142875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openFDA → statistical analysis (PRR, ROR, χ², IC) → rank → cluster by organ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22457" y="3887986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Submission Readiness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22457" y="4365327"/>
            <a:ext cx="5243679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ICH M4 CTD as 69-section checklist → match outline → per-module score → ranked gaps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007070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Bob AI: The Engine Behind Pharos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1962051"/>
            <a:ext cx="1153746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Pharos is powered by Bob AI, our proprietary intelligence that processes vast amounts of information with precision and accuracy.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2454077"/>
            <a:ext cx="451335" cy="451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08861" y="2454077"/>
            <a:ext cx="46741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Interprets Evidence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308861" y="2859187"/>
            <a:ext cx="46741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Accurately reads and interprets complex medical evidence, ensuring data integrity without hallucination.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8656" y="2454077"/>
            <a:ext cx="451335" cy="4513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85609" y="2454077"/>
            <a:ext cx="46741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Matches Regulations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885609" y="2859187"/>
            <a:ext cx="46741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Connects regulatory requirements with relevant drug safety data, streamlining compliance efforts.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3798094"/>
            <a:ext cx="451335" cy="4513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08861" y="3798094"/>
            <a:ext cx="46741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Learns from History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308861" y="4203204"/>
            <a:ext cx="46741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Continuously learns from historical cases like Vioxx and Avandia to prevent future adverse events.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8656" y="3798094"/>
            <a:ext cx="451335" cy="45134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85609" y="3798094"/>
            <a:ext cx="46741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Surfaces Hidden Insights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885609" y="4203204"/>
            <a:ext cx="4674178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Identifies critical patterns and insights that human reviewers might otherwise overlook, enhancing safety monitoring.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31908" y="5273080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Bob AI is the deterministic engine that powers both modes of Pharos. It reads evidence, doesn’t invent it, and learns from every case to catch safety signals earlier.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1551"/>
            <a:ext cx="10927878" cy="547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Vioxx: What the Data Reveals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31908" y="1848148"/>
            <a:ext cx="3560773" cy="1028402"/>
          </a:xfrm>
          <a:prstGeom prst="roundRect">
            <a:avLst>
              <a:gd name="adj" fmla="val 6798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04644" y="2020887"/>
            <a:ext cx="3215302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Myocardial Infarction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04644" y="2447925"/>
            <a:ext cx="3215302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17,981 cases — PRR </a:t>
            </a:r>
            <a:r>
              <a:rPr lang="en-US" sz="13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52.2</a:t>
            </a: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[51.5–52.8]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1908" y="3029942"/>
            <a:ext cx="3560773" cy="1302048"/>
          </a:xfrm>
          <a:prstGeom prst="roundRect">
            <a:avLst>
              <a:gd name="adj" fmla="val 5369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04644" y="3202682"/>
            <a:ext cx="3215302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Coronary Artery Disease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44" y="3903365"/>
            <a:ext cx="3215302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4,156 cases — PRR </a:t>
            </a:r>
            <a:r>
              <a:rPr lang="en-US" sz="13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72.2</a:t>
            </a: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[70.0–74.5]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1908" y="4485382"/>
            <a:ext cx="3560773" cy="1302048"/>
          </a:xfrm>
          <a:prstGeom prst="roundRect">
            <a:avLst>
              <a:gd name="adj" fmla="val 5369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04644" y="4658122"/>
            <a:ext cx="3215302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Cerebrovascular Accident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4644" y="5358805"/>
            <a:ext cx="3215302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13,370 cases — PRR </a:t>
            </a:r>
            <a:r>
              <a:rPr lang="en-US" sz="13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39.1</a:t>
            </a: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[38.5–39.7]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05024" y="1451670"/>
            <a:ext cx="6961013" cy="615057"/>
          </a:xfrm>
          <a:prstGeom prst="roundRect">
            <a:avLst>
              <a:gd name="adj" fmla="val 11366"/>
            </a:avLst>
          </a:prstGeom>
          <a:solidFill>
            <a:srgbClr val="740B0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410" y="1685131"/>
            <a:ext cx="207957" cy="16639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145753" y="1631255"/>
            <a:ext cx="6863484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Cardiac SOC cluster: </a:t>
            </a:r>
            <a:r>
              <a:rPr lang="en-US" sz="13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8 signals</a:t>
            </a: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</a:t>
            </a:r>
            <a:r>
              <a:rPr lang="en-US" sz="13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35,521 cases</a:t>
            </a: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all surfaced automatically.</a:t>
            </a: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024" y="2239268"/>
            <a:ext cx="6961013" cy="3944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21361" y="5605510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Signal Detection Dashboard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221361" y="6182033"/>
            <a:ext cx="1153746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ranked signals, organ-system clusters, and statistical confidence — at a glance.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E00577-3CA5-BB1B-B7A7-CE34AF9C1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5365101" cy="27058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B403BE-B1FC-C625-B934-AA175E2ED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7077" y="1"/>
            <a:ext cx="6534099" cy="27058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F3F90D-A760-A4CE-DDFE-156F0BD32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711144"/>
            <a:ext cx="6096000" cy="27058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F2788F-5448-3E45-8932-F541BA3B7F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8515" y="2749412"/>
            <a:ext cx="5971950" cy="27058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7115" y="5417877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Submission Readiness View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327115" y="6151939"/>
            <a:ext cx="1153746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69-section ICH M4 CTD checklist — per-module scores and ranked gaps surfaced instantly.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93B726-E866-468A-D262-709E40938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8" y="132227"/>
            <a:ext cx="5722603" cy="46776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321271-A2EA-4DC1-589C-400DD098F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922" y="258267"/>
            <a:ext cx="6018245" cy="45515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96491"/>
            <a:ext cx="10927878" cy="35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Avandia Timeline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31908" y="976313"/>
            <a:ext cx="11537463" cy="13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When could we have known?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184473"/>
            <a:ext cx="10927878" cy="47971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85718" y="4059150"/>
            <a:ext cx="1915541" cy="93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Vioxx-excluded 2006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2485718" y="5078287"/>
            <a:ext cx="1915541" cy="37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Screen flags Avandia two years earlier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863967" y="3985474"/>
            <a:ext cx="1915541" cy="93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Standard 2008 screen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7863967" y="5004610"/>
            <a:ext cx="1915541" cy="37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Flags Avandia after 2007 signals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190630" y="1687524"/>
            <a:ext cx="1915541" cy="124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Nissen meta-analysis 2007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5190630" y="3018305"/>
            <a:ext cx="1915541" cy="37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Raised cardiovascular safety concerns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31908" y="6053138"/>
            <a:ext cx="10927878" cy="311051"/>
          </a:xfrm>
          <a:prstGeom prst="roundRect">
            <a:avLst>
              <a:gd name="adj" fmla="val 14475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62" y="6145014"/>
            <a:ext cx="133942" cy="1071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0158" y="6143526"/>
            <a:ext cx="11082060" cy="13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00" b="1" dirty="0">
                <a:solidFill>
                  <a:srgbClr val="F98AC7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Two years earlier detection</a:t>
            </a: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enough time to prevent thousands of adverse events.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3608" y="390661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Architecture</a:t>
            </a:r>
            <a:endParaRPr lang="en-US" sz="3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03EE6E-F87F-3955-B0A4-E7416FACF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299763" y="-1139524"/>
            <a:ext cx="5233776" cy="97577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1544836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Pharos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1908" y="2409527"/>
            <a:ext cx="6355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at IBM hackathon. Designed to be the signal in the noise — before the next Vioxx.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31908" y="3190478"/>
            <a:ext cx="6355993" cy="2122686"/>
          </a:xfrm>
          <a:prstGeom prst="roundRect">
            <a:avLst>
              <a:gd name="adj" fmla="val 357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638258" y="3196828"/>
            <a:ext cx="3171646" cy="1054993"/>
          </a:xfrm>
          <a:custGeom>
            <a:avLst/>
            <a:gdLst/>
            <a:ahLst/>
            <a:cxnLst/>
            <a:rect l="l" t="t" r="r" b="b"/>
            <a:pathLst>
              <a:path w="3171646" h="1054993">
                <a:moveTo>
                  <a:pt x="63192" y="0"/>
                </a:moveTo>
                <a:lnTo>
                  <a:pt x="3171646" y="0"/>
                </a:lnTo>
                <a:lnTo>
                  <a:pt x="3171646" y="1054993"/>
                </a:lnTo>
                <a:lnTo>
                  <a:pt x="0" y="1054993"/>
                </a:lnTo>
                <a:lnTo>
                  <a:pt x="0" y="63193"/>
                </a:lnTo>
                <a:arcTo wR="63192" hR="63193" stAng="10800000" swAng="5400000"/>
                <a:close/>
              </a:path>
            </a:pathLst>
          </a:custGeom>
          <a:solidFill>
            <a:srgbClr val="740B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18733" y="3377307"/>
            <a:ext cx="281069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Open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18733" y="3782417"/>
            <a:ext cx="281069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openFDA. No black box.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809905" y="3196828"/>
            <a:ext cx="3171646" cy="1054993"/>
          </a:xfrm>
          <a:custGeom>
            <a:avLst/>
            <a:gdLst/>
            <a:ahLst/>
            <a:cxnLst/>
            <a:rect l="l" t="t" r="r" b="b"/>
            <a:pathLst>
              <a:path w="3171646" h="1054993">
                <a:moveTo>
                  <a:pt x="0" y="0"/>
                </a:moveTo>
                <a:lnTo>
                  <a:pt x="3108455" y="0"/>
                </a:lnTo>
                <a:arcTo wR="63192" hR="63193" stAng="16200000" swAng="5400000"/>
                <a:lnTo>
                  <a:pt x="3171646" y="1054993"/>
                </a:lnTo>
                <a:lnTo>
                  <a:pt x="0" y="1054993"/>
                </a:lnTo>
                <a:lnTo>
                  <a:pt x="0" y="0"/>
                </a:lnTo>
                <a:close/>
              </a:path>
            </a:pathLst>
          </a:custGeom>
          <a:solidFill>
            <a:srgbClr val="740B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809905" y="3196828"/>
            <a:ext cx="25399" cy="1054993"/>
          </a:xfrm>
          <a:prstGeom prst="roundRect">
            <a:avLst>
              <a:gd name="adj" fmla="val 50001"/>
            </a:avLst>
          </a:prstGeom>
          <a:solidFill>
            <a:srgbClr val="8D24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3990379" y="3377307"/>
            <a:ext cx="281069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Auditable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3990379" y="3782417"/>
            <a:ext cx="281069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stat is reproducible.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8258" y="4251821"/>
            <a:ext cx="6343293" cy="1054993"/>
          </a:xfrm>
          <a:custGeom>
            <a:avLst/>
            <a:gdLst/>
            <a:ahLst/>
            <a:cxnLst/>
            <a:rect l="l" t="t" r="r" b="b"/>
            <a:pathLst>
              <a:path w="6343293" h="1054993">
                <a:moveTo>
                  <a:pt x="0" y="0"/>
                </a:moveTo>
                <a:lnTo>
                  <a:pt x="6343293" y="0"/>
                </a:lnTo>
                <a:lnTo>
                  <a:pt x="6343293" y="991800"/>
                </a:lnTo>
                <a:arcTo wR="63192" hR="63193" stAng="0" swAng="5400000"/>
                <a:lnTo>
                  <a:pt x="63192" y="1054993"/>
                </a:lnTo>
                <a:arcTo wR="63192" hR="63193" stAng="5400000" swAng="5400000"/>
                <a:lnTo>
                  <a:pt x="0" y="0"/>
                </a:lnTo>
                <a:close/>
              </a:path>
            </a:pathLst>
          </a:custGeom>
          <a:solidFill>
            <a:srgbClr val="740B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638258" y="4251821"/>
            <a:ext cx="6343293" cy="25400"/>
          </a:xfrm>
          <a:prstGeom prst="roundRect">
            <a:avLst>
              <a:gd name="adj" fmla="val 49999"/>
            </a:avLst>
          </a:prstGeom>
          <a:solidFill>
            <a:srgbClr val="8D24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818733" y="4432300"/>
            <a:ext cx="598234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Earlier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818733" y="4837410"/>
            <a:ext cx="598234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years can save lives.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448</Words>
  <Application>Microsoft Office PowerPoint</Application>
  <PresentationFormat>Widescreen</PresentationFormat>
  <Paragraphs>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DM Sans</vt:lpstr>
      <vt:lpstr>Arial</vt:lpstr>
      <vt:lpstr>DM Sans Bold</vt:lpstr>
      <vt:lpstr>Bell MT</vt:lpstr>
      <vt:lpstr>Dela Gothic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𝔍αì𝓃ìs𝖍 ຣ𝖍α𝖍</cp:lastModifiedBy>
  <cp:revision>3</cp:revision>
  <dcterms:created xsi:type="dcterms:W3CDTF">2026-09-19T03:54:46Z</dcterms:created>
  <dcterms:modified xsi:type="dcterms:W3CDTF">2026-09-19T08:40:53Z</dcterms:modified>
</cp:coreProperties>
</file>